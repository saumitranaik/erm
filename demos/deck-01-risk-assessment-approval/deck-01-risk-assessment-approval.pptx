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Segoe UI"/>
              </a:rPr>
              <a:t>ERM / GRC PLATFORM  ·  DEMONSTRATION DECK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Risk Assessment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BD5E1"/>
                </a:solidFill>
                <a:latin typeface="Segoe UI"/>
              </a:rPr>
              <a:t>Workflow L1-01 — the canonical maker-checker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94A3B8"/>
                </a:solidFill>
                <a:latin typeface="Segoe UI"/>
              </a:rPr>
              <a:t>Meridian Asset Management Ltd.  ·  Enterprise Risk Management module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94A3B8"/>
                </a:solidFill>
                <a:latin typeface="Segoe UI"/>
              </a:rPr>
              <a:t>Personas: Arjun Mehta (Risk Manager, maker)  →  Priya Raghunathan (Chief Risk Officer, checker)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94A3B8"/>
                </a:solidFill>
                <a:latin typeface="Segoe UI"/>
              </a:rPr>
              <a:t>Executed live against the UX Reference Prototype, 2026-07-25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Source: docs/19-roadmap/01-demonstration-workflow-catalogue.md §§4, §10 (Recommended Day-1 deck)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SECTION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This deck is the catalogue's recommended “Day 1” demonstration (§10): the smallest, safest, most rehearsable package that proves the platform's single most differentiating mechanic — governed maker-checker approval — in 8 screens and roughly 8 minutes.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Executed live, end to end, against the running UX Reference Prototype: Risk Manager Arjun Mehta submits a periodic re-assessment on an ACTIVE risk; Chief Risk Officer Priya Raghunathan, a separate checker persona, reviews and approves it.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Every screenshot in this deck was captured immediately after a real business-state transition in the running application — no mockups, no staged data beyond the prototype's own seed dataset.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The workflow ran cleanly on first execution: no prototype defects, workarounds, or manual data changes were required (see the accompanying defects-and-gaps-observed.md).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This deck establishes the maker-checker vocabulary every other Level 1–Level 4 workflow in the catalogue assumes the audience already understands (catalogue §5).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SECTION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Business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Segoe UI"/>
              </a:rPr>
              <a:t>Why periodic risk re-assessment matters for a SEBI-regulated AMC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4155"/>
                </a:solidFill>
                <a:latin typeface="Segoe UI"/>
              </a:rPr>
              <a:t>•  SEBI's Risk Management System framework for Mutual Funds expects an AMC to keep its risk register current — risks are not identified once and forgotten; they are periodically re-scored against evolving conditions.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4155"/>
                </a:solidFill>
                <a:latin typeface="Segoe UI"/>
              </a:rPr>
              <a:t>•  A re-assessment that changes an enterprise risk's standing must be independently reviewed, not self-certified by the person proposing it — separation of duties between the risk owner (maker) and the independent risk function (checker).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4155"/>
                </a:solidFill>
                <a:latin typeface="Segoe UI"/>
              </a:rPr>
              <a:t>•  The platform's job is to make that discipline structural rather than procedural: a re-assessment cannot silently take effect, cannot be decided by its own author, and leaves an immutable record of who proposed it, who decided it, and why.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4155"/>
                </a:solidFill>
                <a:latin typeface="Segoe UI"/>
              </a:rPr>
              <a:t>•  This workflow demonstrates that discipline on RSK-2026-0004 (“Credit default of a portfolio issuer below investment grade”) — a live, representative fund-management risk in the prototype's seed dataset.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SECTION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Personas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2120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172A"/>
                </a:solidFill>
                <a:latin typeface="Segoe UI"/>
              </a:rPr>
              <a:t>Arjun Mehta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4748B"/>
                </a:solidFill>
                <a:latin typeface="Segoe UI"/>
              </a:rPr>
              <a:t>Risk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Risk Management department · reports into Priya Raghunathan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Maintains the risk register, assessments, treatment plans and KRIs. Submits the governed re-assessment in this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34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4748B"/>
                </a:solidFill>
                <a:latin typeface="Segoe UI"/>
              </a:rPr>
              <a:t>Prototype role grants: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548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RISK_MAKER  ·  CONTROLS_VIEWER  ·  COMPLIANCE_VIEWER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INCIDENT_VIEWER  ·  TPR_VIEWER  ·  BCP_VIEWER  ·  ANALYTICS_VIEWER  ·  REPORTING_VIEWER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521208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554480"/>
            <a:ext cx="52120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66420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CHECKER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172A"/>
                </a:solidFill>
                <a:latin typeface="Segoe UI"/>
              </a:rPr>
              <a:t>Priya Raghunathan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88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4748B"/>
                </a:solidFill>
                <a:latin typeface="Segoe UI"/>
              </a:rPr>
              <a:t>Chief Risk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Risk Management department · head of department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118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Risk checker with oversight of all modules; decides the re-assessment independently of Arjun — separation of duties enforced by the platform.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34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4748B"/>
                </a:solidFill>
                <a:latin typeface="Segoe UI"/>
              </a:rPr>
              <a:t>Prototype role grants: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548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RISK_CHECKER  ·  INCIDENT_CHECKER  ·  ANALYTICS_CHECKER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CONTROLS_VIEWER  ·  COMPLIANCE_VIEWER  ·  AUDIT_VIEWER  ·  SECURITY_VIEWER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POLICY_VIEWER  ·  TPR_VIEWER  ·  BCP_VIEWER  ·  REPORTING_VIEWER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Segoe UI"/>
              </a:rPr>
              <a:t>Source: prototype/src/data/org.json (personas[] / users[])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SECTION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Workflow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29184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0" y="1417320"/>
            <a:ext cx="7589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Workflow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17320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L1-01 · Level 1 — Quick Demonstration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47672"/>
            <a:ext cx="329184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0" y="1947672"/>
            <a:ext cx="758952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47672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RISK (Enterprise Risk Management)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78024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2478024"/>
            <a:ext cx="7589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78024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78024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Maker submits a re-assessment on an ACTIVE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08376"/>
            <a:ext cx="329184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0" y="3008376"/>
            <a:ext cx="758952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08376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Start → End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008376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Risk Register list → Risk Detail (Approvals / Decision History)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38728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1920" y="3538728"/>
            <a:ext cx="7589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38728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Governance flags (MC·Ex·Rp·An)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538728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Y · N · N · N  —  maker-checker only, no exec/reporting/analytics surface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69080"/>
            <a:ext cx="329184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0" y="4069080"/>
            <a:ext cx="758952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69080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Complexity · 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69080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Simple · Critical (Business/Operations)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99432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0" y="4599432"/>
            <a:ext cx="7589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599432"/>
            <a:ext cx="3017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Screens captured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599432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8 (7 cataloged workflow screens + 1 supplementary login screen)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623560"/>
            <a:ext cx="1554480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566928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→ Submit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Re-assessment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31336" y="5623560"/>
            <a:ext cx="1554480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UNDER_REVIEW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5544" y="566928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→ Checker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approves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22592" y="5623560"/>
            <a:ext cx="1554480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1 OF 8  ·  Sign-In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Sign In as Risk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114800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840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ACTOR: Arjun Mehta (Risk Manager)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Arjun opens the prototype and selects his persona, “Arjun Mehta — Risk Manager,” from the sign-in screen. The prototype substitutes persona selection for real authentication.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EXPECTED SYSTEM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6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session resolves Arjun's RISK_MAKER permission set and routes to the enterprise Home dashboard as him.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GOVERNANCE / MAKER-CHECKER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64748B"/>
                </a:solidFill>
                <a:latin typeface="Segoe UI"/>
              </a:rPr>
              <a:t>None at this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1725" y="1581150"/>
            <a:ext cx="6896100" cy="4324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-login-persona-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600200"/>
            <a:ext cx="6858000" cy="428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30775" y="595960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00-login-persona-picker.png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2 OF 8  ·  Navigate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Open the Risk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114800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840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ACTOR: Arjun Mehta (Risk Manager)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Arjun navigates to Risk Management → Risk Register.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EXPECTED SYSTEM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6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All 20 seeded enterprise risks render with code, category, inherent/residual scores, owner and status. RSK-2026-0004 (“Credit default of a portfolio issuer below investment grade”) is visible with status ACTIVE.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GOVERNANCE / MAKER-CHECKER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64748B"/>
                </a:solidFill>
                <a:latin typeface="Segoe UI"/>
              </a:rPr>
              <a:t>None at this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1725" y="1581150"/>
            <a:ext cx="6896100" cy="4324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1-risk-register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600200"/>
            <a:ext cx="6858000" cy="428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30775" y="595960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01-risk-register-list.png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3 OF 8  · 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Open the Risk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114800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840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ACTOR: Arjun Mehta (Risk Manager)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Arjun opens RSK-2026-0004 from the register.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EXPECTED SYSTEM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6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detail page renders classification, inherent/residual scoring (10/8) and review dates. Because no pending action exists on this record, all four workflow actions the risk owner may take from ACTIVE are enabled, including “Submit Re-assessment.”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Segoe UI"/>
              </a:rPr>
              <a:t>GOVERNANCE / MAKER-CHECKER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GOV-07 precondition satisfied: an action button is only offered when no pending action already exists for this record.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1725" y="1581150"/>
            <a:ext cx="6896100" cy="4324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-risk-detail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600200"/>
            <a:ext cx="6858000" cy="428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30775" y="595960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02-risk-detail-active.png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4 OF 8  ·  Maker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Submit the Re-assessment Justification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114800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840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ACTOR: Arjun Mehta (Risk Manager)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Arjun clicks “Submit Re-assessment” and enters a mandatory justification: issuer spreads have widened but remain within appetite; recommends holding current scores pending Q3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EXPECTED SYSTEM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6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governed-action dialog explains that this action requires checker approval and will be routed to the approval queue. “Submit for approval” stays disabled until the justification field is non-empty.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Segoe UI"/>
              </a:rPr>
              <a:t>GOVERNANCE / MAKER-CHECKER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Maker justification is a mandatory, structurally-enforced field for every governed action — not a convention the maker can skip.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1725" y="1581150"/>
            <a:ext cx="6896100" cy="4324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-reassessment-justification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600200"/>
            <a:ext cx="6858000" cy="428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30775" y="595960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03-reassessment-justification-dialog.png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5 OF 8  ·  Governed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Risk Enters UNDER_REVIEW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114800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840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ACTOR: Arjun Mehta (Risk Manager)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Arjun confirms the submission.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EXPECTED SYSTEM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6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status badge changes from Active to Under Review with an “Awaiting checker” badge. All workflow-action buttons disappear — Arjun (or anyone else) cannot submit a second action on this record while one is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Segoe UI"/>
              </a:rPr>
              <a:t>GOVERNANCE / MAKER-CHECKER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 PendingAction record and a history event (ACTION_CREATED) are written; a notification is routed to every persona holding RISK_CHECKER. GOV-07 (single pending action per target) is now structurally enforced.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1725" y="1581150"/>
            <a:ext cx="6896100" cy="4324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-risk-under-review-p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600200"/>
            <a:ext cx="6858000" cy="428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30775" y="595960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04-risk-under-review-pending.png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6 OF 8  ·  Checker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Checker Opens the Approval Queue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114800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840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ACTOR: Priya Raghunathan (Chief Risk Officer)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persona switches to Priya Raghunathan. Priya opens Approvals → Checker Queue.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EXPECTED SYSTEM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6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Priya's cross-module checker queue lists every pending action she may decide. Arjun's Risk Reassessment request appears at the top, with his full justification quoted inline.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Segoe UI"/>
              </a:rPr>
              <a:t>GOVERNANCE / MAKER-CHECKER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Separation of duties is structural, not procedural: Arjun's own submission can only ever appear in a different persona's checker queue, never his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1725" y="1581150"/>
            <a:ext cx="6896100" cy="4324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5-checker-queue-pending-i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600200"/>
            <a:ext cx="6858000" cy="428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30775" y="595960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05-checker-queue-pending-item.png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7 OF 8  ·  Checker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Checker Records the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114800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840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ACTOR: Priya Raghunathan (Chief Risk Officer)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Priya clicks Approve, adds an optional decision comment concurring with the maker's rationale, and confirms.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EXPECTED SYSTEM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6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Approve dialog restates the action's description and the entity code (RSK-2026-0004) so the checker's decision is unambiguous. A comment is optional on approval, mandatory on reject/return.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Segoe UI"/>
              </a:rPr>
              <a:t>GOVERNANCE / MAKER-CHECKER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decidePendingAction() refuses the decision outright if the checker is the same persona as the maker — separation of duties is enforced in code, not just in the 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1725" y="1581150"/>
            <a:ext cx="6896100" cy="4324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-approve-decision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600200"/>
            <a:ext cx="6858000" cy="428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30775" y="595960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06-approve-decision-dialog.png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8 OF 8  ·  Final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Final Governed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114800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840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ACTOR: Priya Raghunathan (Chief Risk Officer)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Priya returns to RSK-2026-0004 and opens its Approvals tab.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EXPECTED SYSTEM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6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risk is back to ACTIVE. The Approvals tab shows the complete, immutable maker-checker record: maker, checker, both timestamps, the original justification and the decision comment, side by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Segoe UI"/>
              </a:rPr>
              <a:t>GOVERNANCE / MAKER-CHECKER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 notification is routed back to Arjun confirming the outcome. The decision record is permanent — the same audit trail an examiner or the Board would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1725" y="1581150"/>
            <a:ext cx="6896100" cy="4324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7-risk-detail-approved-decis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600200"/>
            <a:ext cx="6858000" cy="428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30775" y="595960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07-risk-detail-approved-decision-history.png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SECTION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Governance / Maker-Checker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10312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417320"/>
            <a:ext cx="22860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2928" y="141732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417320"/>
            <a:ext cx="283464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41732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Record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17320"/>
            <a:ext cx="3749039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1417320"/>
            <a:ext cx="35661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Artifact created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74520"/>
            <a:ext cx="210312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929384"/>
            <a:ext cx="1901952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ACTION_CREATED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874520"/>
            <a:ext cx="228600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2928" y="1929384"/>
            <a:ext cx="2084832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Arjun Mehta (maker)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874520"/>
            <a:ext cx="28346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1929384"/>
            <a:ext cx="2633472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RSK-2026-0004: ACTIVE → UNDER_REVIEW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874520"/>
            <a:ext cx="3749039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929384"/>
            <a:ext cx="3547871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PendingAction (RISK_REASSESSMENT) · history event · notification to RISK_CHECKER personas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2608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980944"/>
            <a:ext cx="1901952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Checker queue exposure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926080"/>
            <a:ext cx="22860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2928" y="2980944"/>
            <a:ext cx="2084832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Priya Raghunathan (checker)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926080"/>
            <a:ext cx="2834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8" y="2980944"/>
            <a:ext cx="2633472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No entity change — read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926080"/>
            <a:ext cx="374903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2980944"/>
            <a:ext cx="3547871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Pending action visible only to a different persona holding RISK_CHECKER (separation of duties)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977640"/>
            <a:ext cx="210312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032504"/>
            <a:ext cx="1901952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ACTION_APPROVED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977640"/>
            <a:ext cx="228600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4032504"/>
            <a:ext cx="2084832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Priya Raghunathan (checker)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977640"/>
            <a:ext cx="28346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4032504"/>
            <a:ext cx="2633472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RSK-2026-0004: UNDER_REVIEW → ACTIVE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977640"/>
            <a:ext cx="3749039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4032504"/>
            <a:ext cx="3547871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PendingAction closed (approved) · history event · notification back to Arjun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64748B"/>
                </a:solidFill>
                <a:latin typeface="Segoe UI"/>
              </a:rPr>
              <a:t>This mock ledger mirrors PRSMTD's real pending_action governance mechanism (append-only ledger, GOV-07 single-pending-action dedup, projection to entity status) — the platform capability this workflow's governed actions are designed to run on when implemented (CLAUDE.md PRSMTD capability inventory: Maker-checker governance).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SECTION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Final Business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881360" cy="14173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RSK-2026-0004 — Credit default of a portfolio issuer below investment 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4155"/>
                </a:solidFill>
                <a:latin typeface="Segoe UI"/>
              </a:rPr>
              <a:t>Status: ACTIVE (unchanged)   ·   Inherent score: 10   ·   Residual score: 8   ·   Next review due: 18 Sept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8813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4155"/>
                </a:solidFill>
                <a:latin typeface="Segoe UI"/>
              </a:rPr>
              <a:t>•  The risk's periodic re-assessment is complete and independently confirmed: current scoring and control posture remain appropriate for another review cycle.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4155"/>
                </a:solidFill>
                <a:latin typeface="Segoe UI"/>
              </a:rPr>
              <a:t>•  A permanent, queryable record now exists showing who proposed the re-assessment, who decided it, when each step happened, and the reasoning behind both.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4155"/>
                </a:solidFill>
                <a:latin typeface="Segoe UI"/>
              </a:rPr>
              <a:t>•  Arjun receives a notification confirming Priya's decision — the loop back to the maker closes the workflow, matching the journey documented in prototype/docs/user-journeys.md §1.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4155"/>
                </a:solidFill>
                <a:latin typeface="Segoe UI"/>
              </a:rPr>
              <a:t>•  No manual data correction, workaround, or unsupported assumption was required to reach this outcome — the workflow behaved exactly as the RISK module specification (docs/10-risk/01-enterprise-risk-management.md) defines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SECTION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Maker-checker governance is real and structural in the running prototype — not a UI convention. GOV-07 (single pending action) and separation of duties are both enforced in the underlying logic, not just hidden by disabled buttons.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This is the smallest, safest package that proves that mechanic: 8 screens, 2 personas, one module, one governed transition — by design, the catalogue's recommended Day-1 opener (docs/19-roadmap/01-*.md §10).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Every other cataloged workflow (L1-02 through L4-01) assumes an audience that has already seen this pattern once — this deck establishes that shared vocabulary.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The workflow executed cleanly against the prototype's own seed data with zero defects, workarounds, or unsupported assumptions (see defects-and-gaps-observed.md).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4155"/>
                </a:solidFill>
                <a:latin typeface="Segoe UI"/>
              </a:rPr>
              <a:t>•  Next recommended step per the catalogue's deck order (§7): the RISK Foundations deck bundling L1-02/03/04 — not started as part of this deliverable, per explicit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Meridian Asset Management Ltd. — ERM/GRC Platform UX Reference Prototype — Deck 01: Risk Assessment Approval (L1-01)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471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D9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